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076138242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7FB2C4-F4BA-51CD-E7FF-6123717ABF13}" name="Rachel Profitt" initials="RP" userId="S::raprofit@microsoft.com::33e63d03-b0ce-4cee-8a7f-3417702ed3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60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E3A12-6055-41B9-B735-777A8BB52278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F487A-318A-4C71-B6C2-F18574147A6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7770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process diagram sample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4/22/2026 2:08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4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24DC-8970-5A8E-2470-D90D627A3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F9925-37A2-22A0-B309-741104446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BB758-FCAD-76A9-3947-82A2E64B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3703D-3013-00E2-2BED-6F9280F0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5F337-8D7D-058E-CAFC-6C2537B6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40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564D6-D3AF-091D-3831-879532FE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E8C1-75BB-2B37-3528-04C89A280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1383C-57F3-F4C5-1C44-6528ED99D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27A5E-23B5-A5A8-A02B-E26D13391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CB03B-82F2-D087-606B-7D59EC2F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27860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44628-077D-574C-C7C5-CC222113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9B3A2-A1EB-54C5-AB0A-06A1D23E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E132-E85E-E99C-D0C4-ECFA8281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DD8F0-4344-8EE3-48DA-8A35B9AF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55CCB-6A5D-ED66-B5BD-00A27D20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8376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2830-050B-E40D-C2D3-61A4A6E7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CB8A-A84B-94D2-7AD1-BEB035CBE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E585A-2F55-0FFD-F8DB-6FBBAE0D5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00DE1-7AEB-BC58-4FA1-BE9737B7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3A394-C8FF-DF28-B12C-795A2BDC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8F26A-DB58-2A79-849D-5FCB9F66D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9811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E2CE-F77B-C587-D80D-EEF8A2098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2FFF8-25FC-7C58-F8EB-5574F1DA6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6CBB3-F549-26A5-0C23-B2B0D3A5D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17D3-BE13-A4BD-DB2E-A75530852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67297-FCF7-EB61-DCFE-3B4F68476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2148D-EA28-EAA6-26E5-582388C7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9359EE-7C89-6DC5-C6EA-91DFF51C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435DA-C841-45F1-F994-8BF613AF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809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D186-9E3C-5046-F0A1-E585CCEF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3E5F6-7BBD-E6A8-F9AF-EF6853D9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CD753-85AC-2252-ABE7-F73F2066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E7AAE-1290-9FF8-CE75-E2A00893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7622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ACB4B7-E06B-CE2D-A6A8-9E7CC390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647BF-C038-A3CD-572C-1E1A7290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22E7A-9623-1EC2-C86F-7BC33C4E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3414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075C-CB21-F00E-2CCE-AE28A0D5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E7225-1288-174C-4AA0-0974080CA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B6E0F-F74F-58BC-13CB-EC5E029BC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19AD7-7E9D-A9BF-7ADE-F77B4751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803F1-B605-7508-8975-47B649E92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958A6-5F57-BB1E-AE6A-2F41223B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4856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D914-5037-970F-FB87-D5233B8D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B9AF3F-280B-F94F-08F7-2FCBF669B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5D009-8A2C-3408-A2AB-FC9DE2F9D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C909D-5E8B-BD66-3DE7-E75A7E5D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5CB2B-FC47-51B6-48A2-52BB01BA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B4259-0771-E994-C798-4FE3725C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34909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1C1AA-9A6E-1E93-72E4-516A6CA7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106C3-9710-4364-4F9E-85462B23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70351-5152-C341-5C1C-57F99BED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7DB2E-5C41-0054-9295-FB04925E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4B4C8-E1F1-F19D-FB10-792F4045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0244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922B0-89B4-3303-915E-AF1F4D7E2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6D435-1AD9-7F0A-5F8E-ED76F45C2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3942E-927A-DE3A-265C-5A1FF32AF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0BCAD-5D53-DBEF-6AD5-388D08A89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D79A0-3573-AA2E-93E7-05D585A9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5694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48CB0-1D83-7355-C0E4-6592F449E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A15F-EF40-3F0C-CBDB-F5BCB196A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5853C-8CC6-C4C8-765B-99D422CC1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BC7FF-D741-4E87-8E4E-2D0880BA340B}" type="datetimeFigureOut">
              <a:rPr lang="en-DK" smtClean="0"/>
              <a:t>22/04/2026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A5CEF-8CBB-7337-EEC1-80108A38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0053D-E4AB-DA3D-D6A0-068BB99A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8C960-0189-4CB3-965A-7B88C3347FA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5333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4B13D-C36E-1531-E1EB-962EFE4D7720}"/>
              </a:ext>
            </a:extLst>
          </p:cNvPr>
          <p:cNvSpPr/>
          <p:nvPr/>
        </p:nvSpPr>
        <p:spPr bwMode="auto">
          <a:xfrm>
            <a:off x="2667000" y="1500189"/>
            <a:ext cx="6858000" cy="403737"/>
          </a:xfrm>
          <a:prstGeom prst="rect">
            <a:avLst/>
          </a:prstGeom>
          <a:noFill/>
          <a:ln w="285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1125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Process name: Opportunity Health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D8D9F-C63D-B237-3684-F7EBFA22ED6C}"/>
              </a:ext>
            </a:extLst>
          </p:cNvPr>
          <p:cNvSpPr/>
          <p:nvPr/>
        </p:nvSpPr>
        <p:spPr bwMode="auto">
          <a:xfrm>
            <a:off x="2667001" y="1903926"/>
            <a:ext cx="591779" cy="2461137"/>
          </a:xfrm>
          <a:prstGeom prst="rect">
            <a:avLst/>
          </a:prstGeom>
          <a:noFill/>
          <a:ln w="285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Sales manager, salesperson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FD01C4-2AAC-E2B0-CAE9-A6C51A51D06F}"/>
              </a:ext>
            </a:extLst>
          </p:cNvPr>
          <p:cNvSpPr/>
          <p:nvPr/>
        </p:nvSpPr>
        <p:spPr bwMode="auto">
          <a:xfrm>
            <a:off x="3444057" y="2020068"/>
            <a:ext cx="226757" cy="215696"/>
          </a:xfrm>
          <a:prstGeom prst="ellipse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endParaRPr lang="en-US" sz="1125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E6BC23-213D-BAA2-C43F-4214412328CB}"/>
              </a:ext>
            </a:extLst>
          </p:cNvPr>
          <p:cNvCxnSpPr>
            <a:stCxn id="9" idx="4"/>
          </p:cNvCxnSpPr>
          <p:nvPr/>
        </p:nvCxnSpPr>
        <p:spPr>
          <a:xfrm>
            <a:off x="3557436" y="2235765"/>
            <a:ext cx="152093" cy="309716"/>
          </a:xfrm>
          <a:prstGeom prst="line">
            <a:avLst/>
          </a:prstGeom>
          <a:ln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EF8ED-F4C6-8A22-739C-16673199C428}"/>
              </a:ext>
            </a:extLst>
          </p:cNvPr>
          <p:cNvSpPr/>
          <p:nvPr/>
        </p:nvSpPr>
        <p:spPr bwMode="auto">
          <a:xfrm>
            <a:off x="3709528" y="2415510"/>
            <a:ext cx="1017638" cy="369324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View Opportunity form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01E738-6656-CA86-5D6A-21E6FE2532F4}"/>
              </a:ext>
            </a:extLst>
          </p:cNvPr>
          <p:cNvSpPr/>
          <p:nvPr/>
        </p:nvSpPr>
        <p:spPr bwMode="auto">
          <a:xfrm>
            <a:off x="3972234" y="1997946"/>
            <a:ext cx="754933" cy="25994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Start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188FD-4D35-24FD-EDC0-FA36FF53DDF7}"/>
              </a:ext>
            </a:extLst>
          </p:cNvPr>
          <p:cNvSpPr/>
          <p:nvPr/>
        </p:nvSpPr>
        <p:spPr bwMode="auto">
          <a:xfrm>
            <a:off x="5078363" y="1997947"/>
            <a:ext cx="1017638" cy="547535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If </a:t>
            </a:r>
            <a:r>
              <a:rPr lang="en-US" sz="675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Est Close Date</a:t>
            </a: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 is in the past, set font to red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F79E4C-19BE-7988-B0A6-3B856D8DA467}"/>
              </a:ext>
            </a:extLst>
          </p:cNvPr>
          <p:cNvSpPr/>
          <p:nvPr/>
        </p:nvSpPr>
        <p:spPr bwMode="auto">
          <a:xfrm>
            <a:off x="5078363" y="2545480"/>
            <a:ext cx="1017638" cy="129971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PCF CONTROL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F279977-76AD-3494-9EC4-58406218C12F}"/>
              </a:ext>
            </a:extLst>
          </p:cNvPr>
          <p:cNvCxnSpPr>
            <a:stCxn id="9" idx="6"/>
            <a:endCxn id="14" idx="1"/>
          </p:cNvCxnSpPr>
          <p:nvPr/>
        </p:nvCxnSpPr>
        <p:spPr>
          <a:xfrm>
            <a:off x="3670813" y="2127915"/>
            <a:ext cx="301421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DCD794-5302-36D6-251D-FB5C2883547E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727165" y="2127918"/>
            <a:ext cx="351197" cy="143797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FCA1808-3CD2-D795-0FCB-0B5412E5C81A}"/>
              </a:ext>
            </a:extLst>
          </p:cNvPr>
          <p:cNvSpPr/>
          <p:nvPr/>
        </p:nvSpPr>
        <p:spPr bwMode="auto">
          <a:xfrm>
            <a:off x="3256103" y="1903926"/>
            <a:ext cx="6268898" cy="2461137"/>
          </a:xfrm>
          <a:prstGeom prst="rect">
            <a:avLst/>
          </a:prstGeom>
          <a:noFill/>
          <a:ln w="285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endParaRPr lang="en-US" sz="675" dirty="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54F95-6D08-D33C-84C7-C08C776F8578}"/>
              </a:ext>
            </a:extLst>
          </p:cNvPr>
          <p:cNvSpPr/>
          <p:nvPr/>
        </p:nvSpPr>
        <p:spPr bwMode="auto">
          <a:xfrm>
            <a:off x="2667001" y="4367521"/>
            <a:ext cx="591779" cy="1363306"/>
          </a:xfrm>
          <a:prstGeom prst="rect">
            <a:avLst/>
          </a:prstGeom>
          <a:noFill/>
          <a:ln w="285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1050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Sales manager,  salesperson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AB33E-24D7-3272-9B3C-8F34FE1D4573}"/>
              </a:ext>
            </a:extLst>
          </p:cNvPr>
          <p:cNvSpPr/>
          <p:nvPr/>
        </p:nvSpPr>
        <p:spPr bwMode="auto">
          <a:xfrm>
            <a:off x="3256103" y="4367521"/>
            <a:ext cx="6268898" cy="1360847"/>
          </a:xfrm>
          <a:prstGeom prst="rect">
            <a:avLst/>
          </a:prstGeom>
          <a:noFill/>
          <a:ln w="28575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endParaRPr lang="en-US" sz="675" dirty="0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8F5796-64CA-ECC4-3459-4843A2617EAD}"/>
              </a:ext>
            </a:extLst>
          </p:cNvPr>
          <p:cNvSpPr/>
          <p:nvPr/>
        </p:nvSpPr>
        <p:spPr bwMode="auto">
          <a:xfrm>
            <a:off x="3441292" y="4499027"/>
            <a:ext cx="226757" cy="215696"/>
          </a:xfrm>
          <a:prstGeom prst="ellipse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endParaRPr lang="en-US" sz="1125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631E770-CA92-ABCE-8E27-E955E2F57FE3}"/>
              </a:ext>
            </a:extLst>
          </p:cNvPr>
          <p:cNvCxnSpPr>
            <a:stCxn id="10" idx="4"/>
          </p:cNvCxnSpPr>
          <p:nvPr/>
        </p:nvCxnSpPr>
        <p:spPr>
          <a:xfrm>
            <a:off x="3554671" y="4714723"/>
            <a:ext cx="152093" cy="309716"/>
          </a:xfrm>
          <a:prstGeom prst="line">
            <a:avLst/>
          </a:prstGeom>
          <a:ln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92BD7BF-8962-DBD9-4EAF-EC34FEBAD599}"/>
              </a:ext>
            </a:extLst>
          </p:cNvPr>
          <p:cNvSpPr/>
          <p:nvPr/>
        </p:nvSpPr>
        <p:spPr bwMode="auto">
          <a:xfrm>
            <a:off x="3706763" y="4894468"/>
            <a:ext cx="1017638" cy="259941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Update opportunity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A747C94-7559-FB8A-960B-812A26770CAB}"/>
              </a:ext>
            </a:extLst>
          </p:cNvPr>
          <p:cNvSpPr/>
          <p:nvPr/>
        </p:nvSpPr>
        <p:spPr bwMode="auto">
          <a:xfrm>
            <a:off x="3969469" y="4476905"/>
            <a:ext cx="754933" cy="25994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Start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C61243-6EF1-C10B-FC08-7D8D2F89632D}"/>
              </a:ext>
            </a:extLst>
          </p:cNvPr>
          <p:cNvSpPr/>
          <p:nvPr/>
        </p:nvSpPr>
        <p:spPr bwMode="auto">
          <a:xfrm>
            <a:off x="5075598" y="4476905"/>
            <a:ext cx="1072790" cy="633257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When stage changes, set </a:t>
            </a:r>
            <a:r>
              <a:rPr lang="en-US" sz="675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Probability</a:t>
            </a: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:</a:t>
            </a:r>
          </a:p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Qualify – 25%</a:t>
            </a:r>
            <a:b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Define – 50%</a:t>
            </a:r>
            <a:b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Propose – 75%</a:t>
            </a:r>
            <a:b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Close – 90%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7A5786-F63E-94E5-2DF0-DA842F9577DE}"/>
              </a:ext>
            </a:extLst>
          </p:cNvPr>
          <p:cNvSpPr/>
          <p:nvPr/>
        </p:nvSpPr>
        <p:spPr bwMode="auto">
          <a:xfrm>
            <a:off x="5075598" y="5110163"/>
            <a:ext cx="1072790" cy="195261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BUSINESS RULE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87CF201-14DE-1378-A0EC-CC1701D59CEC}"/>
              </a:ext>
            </a:extLst>
          </p:cNvPr>
          <p:cNvSpPr/>
          <p:nvPr/>
        </p:nvSpPr>
        <p:spPr bwMode="auto">
          <a:xfrm>
            <a:off x="6892415" y="4519765"/>
            <a:ext cx="1341897" cy="547535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Weighted Total Est Revenue: </a:t>
            </a:r>
            <a:b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</a:b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Probability * Total Est Revenue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01CF3F-D2FF-9BC4-AEA2-CE727B7765C0}"/>
              </a:ext>
            </a:extLst>
          </p:cNvPr>
          <p:cNvSpPr/>
          <p:nvPr/>
        </p:nvSpPr>
        <p:spPr bwMode="auto">
          <a:xfrm>
            <a:off x="6892416" y="5067300"/>
            <a:ext cx="1341896" cy="152232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CALCULATED FIELD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5631100-710C-D4FE-B596-E30761182DC3}"/>
              </a:ext>
            </a:extLst>
          </p:cNvPr>
          <p:cNvCxnSpPr>
            <a:stCxn id="10" idx="6"/>
            <a:endCxn id="44" idx="1"/>
          </p:cNvCxnSpPr>
          <p:nvPr/>
        </p:nvCxnSpPr>
        <p:spPr>
          <a:xfrm>
            <a:off x="3668048" y="4606874"/>
            <a:ext cx="301421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5F070C-86D5-AFB8-342A-92A3A0749A63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4724402" y="4606875"/>
            <a:ext cx="351196" cy="186659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281E261-825D-B1B7-4AD0-EA765649E8FE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 flipV="1">
            <a:off x="6148388" y="4793533"/>
            <a:ext cx="744027" cy="1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4D9B05AB-95B0-787C-280B-90434158D367}"/>
              </a:ext>
            </a:extLst>
          </p:cNvPr>
          <p:cNvSpPr/>
          <p:nvPr/>
        </p:nvSpPr>
        <p:spPr bwMode="auto">
          <a:xfrm>
            <a:off x="3444056" y="3225750"/>
            <a:ext cx="226757" cy="215696"/>
          </a:xfrm>
          <a:prstGeom prst="ellipse">
            <a:avLst/>
          </a:prstGeom>
          <a:noFill/>
          <a:ln w="1905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24532" fontAlgn="base">
              <a:spcBef>
                <a:spcPct val="0"/>
              </a:spcBef>
              <a:spcAft>
                <a:spcPct val="0"/>
              </a:spcAft>
            </a:pPr>
            <a:endParaRPr lang="en-US" sz="1125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3C38CC0-D496-362B-6423-2C41E1D91CDE}"/>
              </a:ext>
            </a:extLst>
          </p:cNvPr>
          <p:cNvCxnSpPr>
            <a:stCxn id="96" idx="4"/>
          </p:cNvCxnSpPr>
          <p:nvPr/>
        </p:nvCxnSpPr>
        <p:spPr>
          <a:xfrm>
            <a:off x="3557435" y="3441446"/>
            <a:ext cx="152093" cy="309716"/>
          </a:xfrm>
          <a:prstGeom prst="line">
            <a:avLst/>
          </a:prstGeom>
          <a:ln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01E4911E-FAB2-FFF8-03DB-74859CC2934C}"/>
              </a:ext>
            </a:extLst>
          </p:cNvPr>
          <p:cNvSpPr/>
          <p:nvPr/>
        </p:nvSpPr>
        <p:spPr bwMode="auto">
          <a:xfrm>
            <a:off x="3709528" y="3621191"/>
            <a:ext cx="1017638" cy="259940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View Opportunity grid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7E3387E5-872D-D512-586B-C52D289277A2}"/>
              </a:ext>
            </a:extLst>
          </p:cNvPr>
          <p:cNvSpPr/>
          <p:nvPr/>
        </p:nvSpPr>
        <p:spPr bwMode="auto">
          <a:xfrm>
            <a:off x="3972233" y="3203628"/>
            <a:ext cx="754933" cy="25994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Start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8E85375-61FA-5F2F-7C29-1B790A94EF51}"/>
              </a:ext>
            </a:extLst>
          </p:cNvPr>
          <p:cNvSpPr/>
          <p:nvPr/>
        </p:nvSpPr>
        <p:spPr bwMode="auto">
          <a:xfrm>
            <a:off x="5078362" y="3203628"/>
            <a:ext cx="1017638" cy="547535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If </a:t>
            </a:r>
            <a:r>
              <a:rPr lang="en-US" sz="675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Est Close Date</a:t>
            </a: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 is past, set font to red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35E0AB5-8544-6CF3-FFFE-951EE113B15D}"/>
              </a:ext>
            </a:extLst>
          </p:cNvPr>
          <p:cNvSpPr/>
          <p:nvPr/>
        </p:nvSpPr>
        <p:spPr bwMode="auto">
          <a:xfrm>
            <a:off x="5078362" y="3751162"/>
            <a:ext cx="1017638" cy="129971"/>
          </a:xfrm>
          <a:prstGeom prst="rect">
            <a:avLst/>
          </a:prstGeom>
          <a:noFill/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2870" tIns="82296" rIns="102870" bIns="822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24532" fontAlgn="base">
              <a:spcBef>
                <a:spcPct val="0"/>
              </a:spcBef>
              <a:spcAft>
                <a:spcPct val="0"/>
              </a:spcAft>
            </a:pPr>
            <a:r>
              <a:rPr lang="en-US" sz="675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JAVASCRIPT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EB84901-201F-3D34-4626-9016AF825A00}"/>
              </a:ext>
            </a:extLst>
          </p:cNvPr>
          <p:cNvCxnSpPr>
            <a:stCxn id="96" idx="6"/>
            <a:endCxn id="99" idx="1"/>
          </p:cNvCxnSpPr>
          <p:nvPr/>
        </p:nvCxnSpPr>
        <p:spPr>
          <a:xfrm>
            <a:off x="3670813" y="3333597"/>
            <a:ext cx="301421" cy="0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F69F0FC-0A76-08F8-D70B-79176CEBA70E}"/>
              </a:ext>
            </a:extLst>
          </p:cNvPr>
          <p:cNvCxnSpPr>
            <a:stCxn id="99" idx="3"/>
            <a:endCxn id="100" idx="1"/>
          </p:cNvCxnSpPr>
          <p:nvPr/>
        </p:nvCxnSpPr>
        <p:spPr>
          <a:xfrm>
            <a:off x="4727165" y="3333599"/>
            <a:ext cx="351197" cy="143797"/>
          </a:xfrm>
          <a:prstGeom prst="straightConnector1">
            <a:avLst/>
          </a:prstGeom>
          <a:ln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815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126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Dupont (DK)</dc:creator>
  <cp:lastModifiedBy>Eva Dupont (DK)</cp:lastModifiedBy>
  <cp:revision>2</cp:revision>
  <dcterms:created xsi:type="dcterms:W3CDTF">2026-04-22T12:08:36Z</dcterms:created>
  <dcterms:modified xsi:type="dcterms:W3CDTF">2026-04-22T12:18:05Z</dcterms:modified>
</cp:coreProperties>
</file>